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200" b="1">
                <a:solidFill>
                  <a:srgbClr val="FFDC53"/>
                </a:solidFill>
                <a:latin typeface="Aptos"/>
              </a:defRPr>
            </a:pPr>
            <a:r>
              <a:t>ALGORITHMS • VISUAL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852160" cy="1645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4300" b="1">
                <a:solidFill>
                  <a:srgbClr val="FAFBFF"/>
                </a:solidFill>
                <a:latin typeface="Aptos"/>
              </a:defRPr>
            </a:pPr>
            <a:r>
              <a:t>PRIM’S</a:t>
            </a:r>
            <a:br/>
            <a: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5303520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200" b="0">
                <a:solidFill>
                  <a:srgbClr val="BECBE6"/>
                </a:solidFill>
                <a:latin typeface="Aptos"/>
              </a:defRPr>
            </a:pPr>
            <a:r>
              <a:t>Build a connected network with the</a:t>
            </a:r>
            <a:br/>
            <a:r>
              <a:t>lowest possible total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663440"/>
            <a:ext cx="3154680" cy="566928"/>
          </a:xfrm>
          <a:prstGeom prst="round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37176"/>
            <a:ext cx="278892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GREEDY METHOD  |  MST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720840" y="1915668"/>
            <a:ext cx="1476756" cy="781812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2913" y="207431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2697480"/>
            <a:ext cx="955548" cy="1129283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95947" y="313410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676388" y="1915668"/>
            <a:ext cx="521208" cy="1911095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94929" y="2743199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97596" y="1915668"/>
            <a:ext cx="1476756" cy="781812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89669" y="2048255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676388" y="2697480"/>
            <a:ext cx="1997964" cy="1129283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29065" y="3238347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9413748" y="2697480"/>
            <a:ext cx="260604" cy="1216151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54108" y="317754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76388" y="3826763"/>
            <a:ext cx="1737360" cy="86868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98763" y="385511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7596" y="1915668"/>
            <a:ext cx="1216152" cy="1997963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89669" y="278663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250545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8005571" y="1723644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9482328" y="250545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7484363" y="3634739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9221724" y="3721607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754880"/>
            <a:ext cx="420624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B4F555"/>
                </a:solidFill>
                <a:latin typeface="Aptos"/>
              </a:defRPr>
            </a:pPr>
            <a:r>
              <a:t>A sample minimum spanning 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Imagine connecting your college campus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A familiar story makes the problem easier to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828800" cy="100584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67128"/>
            <a:ext cx="82296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32D6EB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265176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FAFBFF"/>
                </a:solidFill>
                <a:latin typeface="Aptos"/>
              </a:defRPr>
            </a:pPr>
            <a:r>
              <a:t>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59" y="2057400"/>
            <a:ext cx="1828800" cy="100584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2167128"/>
            <a:ext cx="82296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FFA448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5176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FAFBFF"/>
                </a:solidFill>
                <a:latin typeface="Aptos"/>
              </a:defRPr>
            </a:pPr>
            <a:r>
              <a:t>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057400"/>
            <a:ext cx="1828800" cy="100584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67128"/>
            <a:ext cx="82296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FF5B91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5176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FAFBFF"/>
                </a:solidFill>
                <a:latin typeface="Aptos"/>
              </a:defRPr>
            </a:pPr>
            <a:r>
              <a:t>Hostel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057400"/>
            <a:ext cx="1828800" cy="100584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167128"/>
            <a:ext cx="82296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B4F555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65176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FAFBFF"/>
                </a:solidFill>
                <a:latin typeface="Aptos"/>
              </a:defRPr>
            </a:pPr>
            <a:r>
              <a:t>Canteen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429000"/>
            <a:ext cx="71323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900" b="1">
                <a:solidFill>
                  <a:srgbClr val="FFDC53"/>
                </a:solidFill>
                <a:latin typeface="Aptos"/>
              </a:defRPr>
            </a:pPr>
            <a:r>
              <a:t>Possible cable routes have different costs.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4251960"/>
            <a:ext cx="914400" cy="0"/>
          </a:xfrm>
          <a:prstGeom prst="line">
            <a:avLst/>
          </a:prstGeom>
          <a:ln w="38100">
            <a:solidFill>
              <a:srgbClr val="32D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4251960"/>
            <a:ext cx="914400" cy="0"/>
          </a:xfrm>
          <a:prstGeom prst="line">
            <a:avLst/>
          </a:prstGeom>
          <a:ln w="38100">
            <a:solidFill>
              <a:srgbClr val="32D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72400" y="4251960"/>
            <a:ext cx="914400" cy="0"/>
          </a:xfrm>
          <a:prstGeom prst="line">
            <a:avLst/>
          </a:prstGeom>
          <a:ln w="38100">
            <a:solidFill>
              <a:srgbClr val="32D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88720" y="4800600"/>
            <a:ext cx="9784080" cy="777240"/>
          </a:xfrm>
          <a:prstGeom prst="roundRect">
            <a:avLst/>
          </a:prstGeom>
          <a:solidFill>
            <a:srgbClr val="2A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502920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1">
                <a:solidFill>
                  <a:srgbClr val="FAFBFF"/>
                </a:solidFill>
                <a:latin typeface="Aptos"/>
              </a:defRPr>
            </a:pPr>
            <a:r>
              <a:t>Goal: connect every building, avoid unnecessary loops, and keep the total cable cost as small as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Graph basics: vertices, edges &amp;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These three words appear throughout Prim’s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657600" cy="338328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32D6EB"/>
                </a:solidFill>
                <a:latin typeface="Aptos"/>
              </a:defRPr>
            </a:pPr>
            <a:r>
              <a:t>VERTEX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292608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A point or location in the network.</a:t>
            </a:r>
          </a:p>
        </p:txBody>
      </p:sp>
      <p:sp>
        <p:nvSpPr>
          <p:cNvPr id="11" name="Oval 10"/>
          <p:cNvSpPr/>
          <p:nvPr/>
        </p:nvSpPr>
        <p:spPr>
          <a:xfrm>
            <a:off x="2249424" y="3758184"/>
            <a:ext cx="621792" cy="621792"/>
          </a:xfrm>
          <a:prstGeom prst="ellipse">
            <a:avLst/>
          </a:prstGeom>
          <a:solidFill>
            <a:srgbClr val="FFA448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154680" cy="338328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F5B91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06040"/>
            <a:ext cx="246888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A possible connection between two vertices.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4160520"/>
            <a:ext cx="1371600" cy="0"/>
          </a:xfrm>
          <a:prstGeom prst="line">
            <a:avLst/>
          </a:prstGeom>
          <a:ln w="50800">
            <a:solidFill>
              <a:srgbClr val="FF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11496" y="396849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6574536" y="396849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828800"/>
            <a:ext cx="3520440" cy="338328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B4F555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274320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The cost, distance, or time assigned to an edge.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265176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300" b="1">
                <a:solidFill>
                  <a:srgbClr val="FFDC53"/>
                </a:solidFill>
                <a:latin typeface="Aptos"/>
              </a:defRPr>
            </a:pPr>
            <a:r>
              <a:t>A ── 7 ──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0">
                <a:solidFill>
                  <a:srgbClr val="BECBE6"/>
                </a:solidFill>
                <a:latin typeface="Aptos"/>
              </a:defRPr>
            </a:pPr>
            <a:r>
              <a:t>In this example, the connection costs 7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What is a Minimum Spanning Tree?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A spanning tree connects every vertex without creating a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709160" cy="356616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000" b="1">
                <a:solidFill>
                  <a:srgbClr val="FFDC53"/>
                </a:solidFill>
                <a:latin typeface="Aptos"/>
              </a:defRPr>
            </a:pPr>
            <a:r>
              <a:t>Remember these 3 rules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2743200"/>
            <a:ext cx="365760" cy="365760"/>
          </a:xfrm>
          <a:prstGeom prst="ellipse">
            <a:avLst/>
          </a:prstGeom>
          <a:solidFill>
            <a:srgbClr val="32D6EB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88920"/>
            <a:ext cx="333756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Every vertex is included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3401568"/>
            <a:ext cx="365760" cy="365760"/>
          </a:xfrm>
          <a:prstGeom prst="ellipse">
            <a:avLst/>
          </a:prstGeom>
          <a:solidFill>
            <a:srgbClr val="FF5B91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47287"/>
            <a:ext cx="333756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There are no cycles (loops)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059936"/>
            <a:ext cx="365760" cy="365760"/>
          </a:xfrm>
          <a:prstGeom prst="ellipse">
            <a:avLst/>
          </a:prstGeom>
          <a:solidFill>
            <a:srgbClr val="B4F555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05656"/>
            <a:ext cx="333756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For V vertices, a tree has V − 1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900" b="1">
                <a:solidFill>
                  <a:srgbClr val="B4F555"/>
                </a:solidFill>
                <a:latin typeface="Aptos"/>
              </a:defRPr>
            </a:pPr>
            <a:r>
              <a:t>One possible MST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37960" y="2606040"/>
            <a:ext cx="1234440" cy="8229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08876" y="243687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37960" y="2606040"/>
            <a:ext cx="576072" cy="1316736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0936" y="313639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114032" y="2688336"/>
            <a:ext cx="658368" cy="123444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95667" y="317754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0" y="2688336"/>
            <a:ext cx="1234440" cy="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3316" y="247802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114032" y="2688336"/>
            <a:ext cx="1892808" cy="123444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14132" y="325983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513064" y="2688336"/>
            <a:ext cx="493776" cy="1316736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95944" y="3218688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14032" y="3922776"/>
            <a:ext cx="1399032" cy="8229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67244" y="391820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0" y="2688336"/>
            <a:ext cx="740664" cy="131673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78724" y="3218688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Oval 32"/>
          <p:cNvSpPr/>
          <p:nvPr/>
        </p:nvSpPr>
        <p:spPr>
          <a:xfrm>
            <a:off x="6345936" y="241401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4" name="Oval 33"/>
          <p:cNvSpPr/>
          <p:nvPr/>
        </p:nvSpPr>
        <p:spPr>
          <a:xfrm>
            <a:off x="7580375" y="249631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5" name="Oval 34"/>
          <p:cNvSpPr/>
          <p:nvPr/>
        </p:nvSpPr>
        <p:spPr>
          <a:xfrm>
            <a:off x="8814816" y="249631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6" name="Oval 35"/>
          <p:cNvSpPr/>
          <p:nvPr/>
        </p:nvSpPr>
        <p:spPr>
          <a:xfrm>
            <a:off x="6922008" y="373075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3813048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800600"/>
            <a:ext cx="393192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900" b="1">
                <a:solidFill>
                  <a:srgbClr val="FFDC53"/>
                </a:solidFill>
                <a:latin typeface="Aptos"/>
              </a:defRPr>
            </a:pPr>
            <a:r>
              <a:t>Total = 2 + 1 + 5 + 2 =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Prim’s algorithm: the greedy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Greedy means choosing the cheapest valid next step—not planning every route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9966960" cy="658368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7864" y="1938528"/>
            <a:ext cx="438912" cy="438912"/>
          </a:xfrm>
          <a:prstGeom prst="ellipse">
            <a:avLst/>
          </a:prstGeom>
          <a:solidFill>
            <a:srgbClr val="32D6EB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02536"/>
            <a:ext cx="841248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Pick a starting vertex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61488"/>
            <a:ext cx="9966960" cy="658368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7864" y="2871215"/>
            <a:ext cx="438912" cy="438912"/>
          </a:xfrm>
          <a:prstGeom prst="ellipse">
            <a:avLst/>
          </a:prstGeom>
          <a:solidFill>
            <a:srgbClr val="FFA448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35224"/>
            <a:ext cx="841248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Check edges that leave the current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94176"/>
            <a:ext cx="9966960" cy="658368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7864" y="3803904"/>
            <a:ext cx="438912" cy="438912"/>
          </a:xfrm>
          <a:prstGeom prst="ellipse">
            <a:avLst/>
          </a:prstGeom>
          <a:solidFill>
            <a:srgbClr val="FF5B91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67912"/>
            <a:ext cx="841248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Choose the lowest-cost edge to a new vertex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26864"/>
            <a:ext cx="9966960" cy="658368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7864" y="4736592"/>
            <a:ext cx="438912" cy="438912"/>
          </a:xfrm>
          <a:prstGeom prst="ellipse">
            <a:avLst/>
          </a:prstGeom>
          <a:solidFill>
            <a:srgbClr val="B4F555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800600"/>
            <a:ext cx="841248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Add that vertex; repeat until all are connected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806440"/>
            <a:ext cx="978408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400" b="1">
                <a:solidFill>
                  <a:srgbClr val="FFDC53"/>
                </a:solidFill>
                <a:latin typeface="Aptos"/>
              </a:defRPr>
            </a:pPr>
            <a:r>
              <a:t>Important: never add an edge that connects two vertices already in the tree if it would create a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Worked example • Step 1: start at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We will build the tree one edge at a time using this weighted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06 / 10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" y="2057400"/>
            <a:ext cx="1645920" cy="8229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91056" y="223113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880360"/>
            <a:ext cx="1463040" cy="137160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35024" y="34381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77440" y="2057400"/>
            <a:ext cx="182880" cy="21945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14016" y="302666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2057400"/>
            <a:ext cx="1737360" cy="22860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2696" y="1933955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377440" y="2286000"/>
            <a:ext cx="1920240" cy="19659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91256" y="3250691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97680" y="2286000"/>
            <a:ext cx="274320" cy="192024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25696" y="311810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377440" y="4206240"/>
            <a:ext cx="2194560" cy="4572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28415" y="421995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2057400"/>
            <a:ext cx="2011680" cy="214884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11296" y="300380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" y="268833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2368296" y="18653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4105656" y="20939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2185416" y="405993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4379976" y="4014215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965960"/>
            <a:ext cx="4846320" cy="333756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33172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32D6EB"/>
                </a:solidFill>
                <a:latin typeface="Aptos"/>
              </a:defRPr>
            </a:pPr>
            <a:r>
              <a:t>Tree currently contains: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71800"/>
            <a:ext cx="3749039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Edges leaving A: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42900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FDC53"/>
                </a:solidFill>
                <a:latin typeface="Aptos"/>
              </a:defRPr>
            </a:pPr>
            <a:r>
              <a:t>A–B = 4     A–D =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16052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000" b="1">
                <a:solidFill>
                  <a:srgbClr val="B4F555"/>
                </a:solidFill>
                <a:latin typeface="Aptos"/>
              </a:defRPr>
            </a:pPr>
            <a:r>
              <a:t>Choose A–D (weight 2).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0">
                <a:solidFill>
                  <a:srgbClr val="BECBE6"/>
                </a:solidFill>
                <a:latin typeface="Aptos"/>
              </a:defRPr>
            </a:pPr>
            <a:r>
              <a:t>Now the tree contains A and 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Worked example • Steps 2 and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At each step, compare only edges that connect the tree to a new vertex.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74920" cy="342900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14630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FF5B91"/>
                </a:solidFill>
                <a:latin typeface="Aptos"/>
              </a:defRPr>
            </a:pPr>
            <a:r>
              <a:t>STEP 2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51560" y="2743200"/>
            <a:ext cx="827074" cy="33695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18793" y="27101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51560" y="3080156"/>
            <a:ext cx="520750" cy="551383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5354" y="32278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572310" y="2743200"/>
            <a:ext cx="306324" cy="888339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40433" y="305935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8634" y="2743200"/>
            <a:ext cx="827075" cy="275691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45868" y="267951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572310" y="3018891"/>
            <a:ext cx="1133399" cy="612648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92706" y="3270717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675077" y="3018891"/>
            <a:ext cx="30632" cy="673913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35986" y="32278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72310" y="3631539"/>
            <a:ext cx="1102767" cy="61265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77389" y="361380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8634" y="2743200"/>
            <a:ext cx="796443" cy="949604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91816" y="308998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859536" y="288813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1686610" y="25511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513685" y="2826867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1380286" y="3439515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2483053" y="3500780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FAFBFF"/>
                </a:solidFill>
                <a:latin typeface="Aptos"/>
              </a:defRPr>
            </a:pPr>
            <a:r>
              <a:t>Add B using D–B =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828800"/>
            <a:ext cx="5074920" cy="342900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59" y="2084831"/>
            <a:ext cx="14630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FFA448"/>
                </a:solidFill>
                <a:latin typeface="Aptos"/>
              </a:defRPr>
            </a:pPr>
            <a:r>
              <a:t>STEP 3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583679" y="2743200"/>
            <a:ext cx="827075" cy="33695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0913" y="27101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79" y="3080156"/>
            <a:ext cx="520751" cy="551383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7474" y="32278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104430" y="2743200"/>
            <a:ext cx="306324" cy="888339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72553" y="305935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10754" y="2743200"/>
            <a:ext cx="827075" cy="275691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677988" y="267951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7104430" y="3018891"/>
            <a:ext cx="1133399" cy="612648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524826" y="3270717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8207197" y="3018891"/>
            <a:ext cx="30632" cy="673913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68106" y="32278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04430" y="3631539"/>
            <a:ext cx="1102767" cy="61265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09509" y="361380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410754" y="2743200"/>
            <a:ext cx="796443" cy="949604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23936" y="308998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6391655" y="288813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7218730" y="25511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52" name="Oval 51"/>
          <p:cNvSpPr/>
          <p:nvPr/>
        </p:nvSpPr>
        <p:spPr>
          <a:xfrm>
            <a:off x="8045805" y="2826867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53" name="Oval 52"/>
          <p:cNvSpPr/>
          <p:nvPr/>
        </p:nvSpPr>
        <p:spPr>
          <a:xfrm>
            <a:off x="6912406" y="3439515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54" name="Oval 53"/>
          <p:cNvSpPr/>
          <p:nvPr/>
        </p:nvSpPr>
        <p:spPr>
          <a:xfrm>
            <a:off x="8015173" y="3500780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79" y="470916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FAFBFF"/>
                </a:solidFill>
                <a:latin typeface="Aptos"/>
              </a:defRPr>
            </a:pPr>
            <a:r>
              <a:t>Add C using B–C =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715000"/>
            <a:ext cx="1024128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400" b="1">
                <a:solidFill>
                  <a:srgbClr val="FFDC53"/>
                </a:solidFill>
                <a:latin typeface="Aptos"/>
              </a:defRPr>
            </a:pPr>
            <a:r>
              <a:t>Why not choose B–D again later? Both endpoints are already in the tree, so it cannot help add a new vertex.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Worked example • Finish the MST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One vertex remains: E. The cheapest edge from the current tree to E is C–E =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08 / 10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" y="1920240"/>
            <a:ext cx="1645920" cy="8229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91056" y="209397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743200"/>
            <a:ext cx="1463040" cy="137160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35024" y="330098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77440" y="1920240"/>
            <a:ext cx="182880" cy="219456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14016" y="288950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1920240"/>
            <a:ext cx="1737360" cy="22860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2696" y="1796795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377440" y="2148840"/>
            <a:ext cx="1920240" cy="19659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91256" y="31135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97680" y="2148840"/>
            <a:ext cx="274320" cy="192024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25696" y="29809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377440" y="4069080"/>
            <a:ext cx="2194560" cy="4572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28415" y="408279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1920240"/>
            <a:ext cx="2011680" cy="214884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11296" y="28666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" y="25511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2368296" y="172821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4105656" y="195681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2185416" y="39227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4379976" y="387705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1965960"/>
            <a:ext cx="4754880" cy="333756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331720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B4F555"/>
                </a:solidFill>
                <a:latin typeface="Aptos"/>
              </a:defRPr>
            </a:pPr>
            <a:r>
              <a:t>Final selected edges</a:t>
            </a:r>
          </a:p>
        </p:txBody>
      </p:sp>
      <p:sp>
        <p:nvSpPr>
          <p:cNvPr id="31" name="Oval 30"/>
          <p:cNvSpPr/>
          <p:nvPr/>
        </p:nvSpPr>
        <p:spPr>
          <a:xfrm>
            <a:off x="6483096" y="2825496"/>
            <a:ext cx="292608" cy="292608"/>
          </a:xfrm>
          <a:prstGeom prst="ellipse">
            <a:avLst/>
          </a:prstGeom>
          <a:solidFill>
            <a:srgbClr val="32D6EB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52928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A–D = 2</a:t>
            </a:r>
          </a:p>
        </p:txBody>
      </p:sp>
      <p:sp>
        <p:nvSpPr>
          <p:cNvPr id="33" name="Oval 32"/>
          <p:cNvSpPr/>
          <p:nvPr/>
        </p:nvSpPr>
        <p:spPr>
          <a:xfrm>
            <a:off x="6483096" y="3264408"/>
            <a:ext cx="292608" cy="292608"/>
          </a:xfrm>
          <a:prstGeom prst="ellipse">
            <a:avLst/>
          </a:prstGeom>
          <a:solidFill>
            <a:srgbClr val="FF5B91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291840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D–B = 1</a:t>
            </a:r>
          </a:p>
        </p:txBody>
      </p:sp>
      <p:sp>
        <p:nvSpPr>
          <p:cNvPr id="35" name="Oval 34"/>
          <p:cNvSpPr/>
          <p:nvPr/>
        </p:nvSpPr>
        <p:spPr>
          <a:xfrm>
            <a:off x="6483096" y="3703320"/>
            <a:ext cx="292608" cy="292608"/>
          </a:xfrm>
          <a:prstGeom prst="ellipse">
            <a:avLst/>
          </a:prstGeom>
          <a:solidFill>
            <a:srgbClr val="FFA448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730752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B–C = 5</a:t>
            </a:r>
          </a:p>
        </p:txBody>
      </p:sp>
      <p:sp>
        <p:nvSpPr>
          <p:cNvPr id="37" name="Oval 36"/>
          <p:cNvSpPr/>
          <p:nvPr/>
        </p:nvSpPr>
        <p:spPr>
          <a:xfrm>
            <a:off x="6483096" y="4142231"/>
            <a:ext cx="292608" cy="292608"/>
          </a:xfrm>
          <a:prstGeom prst="ellipse">
            <a:avLst/>
          </a:prstGeom>
          <a:solidFill>
            <a:srgbClr val="B4F555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169664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C–E =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892040"/>
            <a:ext cx="41605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1">
                <a:solidFill>
                  <a:srgbClr val="FFDC53"/>
                </a:solidFill>
                <a:latin typeface="Aptos"/>
              </a:defRPr>
            </a:pPr>
            <a:r>
              <a:t>Total weight = 2 + 1 + 5 + 2 =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1">
                <a:solidFill>
                  <a:srgbClr val="FAFBFF"/>
                </a:solidFill>
                <a:latin typeface="Aptos"/>
              </a:defRPr>
            </a:pPr>
            <a:r>
              <a:t>All 5 vertices are connected using exactly 4 edges.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Algorithm steps &amp; time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The idea stays the same; the data structure changes how quickly we find the next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760720" cy="3886200"/>
          </a:xfrm>
          <a:prstGeom prst="roundRect">
            <a:avLst/>
          </a:prstGeom>
          <a:solidFill>
            <a:srgbClr val="16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32D6EB"/>
                </a:solidFill>
                <a:latin typeface="Consolas" panose="020B0609020204030204"/>
              </a:defRPr>
            </a:pPr>
            <a:r>
              <a:t>Choose start vertex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2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FAFBFF"/>
                </a:solidFill>
                <a:latin typeface="Consolas" panose="020B0609020204030204"/>
              </a:defRPr>
            </a:pPr>
            <a:r>
              <a:t>Set key[s] = 0; others = 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26664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FFDC53"/>
                </a:solidFill>
                <a:latin typeface="Consolas" panose="020B0609020204030204"/>
              </a:defRPr>
            </a:pPr>
            <a:r>
              <a:t>While an unvisited vertex exists: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65576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FAFBFF"/>
                </a:solidFill>
                <a:latin typeface="Consolas" panose="020B0609020204030204"/>
              </a:defRPr>
            </a:pPr>
            <a:r>
              <a:t>  Select unvisited u with smallest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04487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FAFBFF"/>
                </a:solidFill>
                <a:latin typeface="Consolas" panose="020B0609020204030204"/>
              </a:defRPr>
            </a:pPr>
            <a:r>
              <a:t>  Mark u visited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B4F555"/>
                </a:solidFill>
                <a:latin typeface="Consolas" panose="020B0609020204030204"/>
              </a:defRPr>
            </a:pPr>
            <a:r>
              <a:t>  Update keys of its unvisited neighbors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82312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32D6EB"/>
                </a:solidFill>
                <a:latin typeface="Consolas" panose="020B0609020204030204"/>
              </a:defRPr>
            </a:pPr>
            <a:r>
              <a:t>Return the parent edges as the MST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828800"/>
            <a:ext cx="4480560" cy="160020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121408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FFA448"/>
                </a:solidFill>
                <a:latin typeface="Aptos"/>
              </a:defRPr>
            </a:pPr>
            <a:r>
              <a:t>Adjacency matrix +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51760"/>
            <a:ext cx="38404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FAFBFF"/>
                </a:solidFill>
                <a:latin typeface="Aptos"/>
              </a:defRPr>
            </a:pPr>
            <a:r>
              <a:t>O(V²)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794760"/>
            <a:ext cx="4480560" cy="160020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9651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B4F555"/>
                </a:solidFill>
                <a:latin typeface="Aptos"/>
              </a:defRPr>
            </a:pPr>
            <a:r>
              <a:t>Adjacency list + min-heap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617720"/>
            <a:ext cx="38404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200" b="1">
                <a:solidFill>
                  <a:srgbClr val="FAFBFF"/>
                </a:solidFill>
                <a:latin typeface="Aptos"/>
              </a:defRPr>
            </a:pPr>
            <a:r>
              <a:t>O((V + E) log 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66928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0">
                <a:solidFill>
                  <a:srgbClr val="BECBE6"/>
                </a:solidFill>
                <a:latin typeface="Aptos"/>
              </a:defRPr>
            </a:pPr>
            <a:r>
              <a:t>V = vertices   •   E = edges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FFDC53"/>
                </a:solidFill>
                <a:latin typeface="Aptos"/>
              </a:defRPr>
            </a:pPr>
            <a:r>
              <a:t>QUICK RECAP + MINI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6583680" cy="12344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3200" b="1">
                <a:solidFill>
                  <a:srgbClr val="FAFBFF"/>
                </a:solidFill>
                <a:latin typeface="Aptos"/>
              </a:defRPr>
            </a:pPr>
            <a:r>
              <a:t>Can you explain Prim’s</a:t>
            </a:r>
            <a:br/>
            <a:r>
              <a:t>algorithm in one minute?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6537960" cy="233172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32D6EB"/>
                </a:solidFill>
                <a:latin typeface="Aptos"/>
              </a:defRPr>
            </a:pPr>
            <a:r>
              <a:t>Remember the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5669280" cy="6858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800" b="1">
                <a:solidFill>
                  <a:srgbClr val="FAFBFF"/>
                </a:solidFill>
                <a:latin typeface="Aptos"/>
              </a:defRPr>
            </a:pPr>
            <a:r>
              <a:t>START  →  CHEAPEST SAFE EDGE  →  ADD NEW VERTEX  →  REPEAT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920240"/>
            <a:ext cx="3383280" cy="3429000"/>
          </a:xfrm>
          <a:prstGeom prst="roundRect">
            <a:avLst/>
          </a:prstGeom>
          <a:solidFill>
            <a:srgbClr val="32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67712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000" b="1">
                <a:solidFill>
                  <a:srgbClr val="B4F555"/>
                </a:solidFill>
                <a:latin typeface="Aptos"/>
              </a:defRPr>
            </a:pPr>
            <a:r>
              <a:t>Your turn!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971800"/>
            <a:ext cx="2651760" cy="10058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0">
                <a:solidFill>
                  <a:srgbClr val="FAFBFF"/>
                </a:solidFill>
                <a:latin typeface="Aptos"/>
              </a:defRPr>
            </a:pPr>
            <a:r>
              <a:t>If a graph has 6 vertices, how many edges will its spanning tree contain?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8912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1">
                <a:solidFill>
                  <a:srgbClr val="FFDC53"/>
                </a:solidFill>
                <a:latin typeface="Aptos"/>
              </a:defRPr>
            </a:pPr>
            <a:r>
              <a:t>Answer: 6 − 1 = 5 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89788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800" b="1">
                <a:solidFill>
                  <a:srgbClr val="32D6EB"/>
                </a:solidFill>
                <a:latin typeface="Aptos"/>
              </a:defRPr>
            </a:pPr>
            <a:r>
              <a:t>THANK YOU!  •  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2924</Words>
  <Application>WPS Presentation</Application>
  <PresentationFormat>On-screen Show (4:3)</PresentationFormat>
  <Paragraphs>378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Palash Dekate</cp:lastModifiedBy>
  <cp:revision>3</cp:revision>
  <dcterms:created xsi:type="dcterms:W3CDTF">2013-01-27T09:14:00Z</dcterms:created>
  <dcterms:modified xsi:type="dcterms:W3CDTF">2026-10-06T12:25:30Z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F899E92D8A0045B3A1D4F88D952B4DCA_13</vt:lpwstr>
  </property>
  <property fmtid="{D5CDD505-2E9C-101B-9397-08002B2CF9AE}" pid="3" name="KSOProductBuildVer">
    <vt:lpwstr>1033-12.1.0.28485</vt:lpwstr>
  </property>
</Properties>
</file>